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11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B2118"/>
                </a:solidFill>
                <a:latin typeface="Calibri"/>
              </a:rPr>
              <a:t>Revenue by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Champions</c:v>
                  </c:pt>
                  <c:pt idx="1">
                    <c:v>At Risk</c:v>
                  </c:pt>
                  <c:pt idx="2">
                    <c:v>Lost</c:v>
                  </c:pt>
                  <c:pt idx="3">
                    <c:v>Regular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19302</c:v>
                </c:pt>
                <c:pt idx="1">
                  <c:v>17421</c:v>
                </c:pt>
                <c:pt idx="2">
                  <c:v>15378</c:v>
                </c:pt>
                <c:pt idx="3">
                  <c:v>14370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8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4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franchise ($)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Italy</c:v>
                  </c:pt>
                  <c:pt idx="1">
                    <c:v>Sweden</c:v>
                  </c:pt>
                  <c:pt idx="2">
                    <c:v>France</c:v>
                  </c:pt>
                  <c:pt idx="3">
                    <c:v>Netherlands</c:v>
                  </c:pt>
                  <c:pt idx="4">
                    <c:v>Germany</c:v>
                  </c:pt>
                  <c:pt idx="5">
                    <c:v>Australia</c:v>
                  </c:pt>
                  <c:pt idx="6">
                    <c:v>US</c:v>
                  </c:pt>
                  <c:pt idx="7">
                    <c:v>Canada</c:v>
                  </c:pt>
                  <c:pt idx="8">
                    <c:v>Japan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6642</c:v>
                </c:pt>
                <c:pt idx="1">
                  <c:v>4512</c:v>
                </c:pt>
                <c:pt idx="2">
                  <c:v>1350</c:v>
                </c:pt>
                <c:pt idx="3">
                  <c:v>1239</c:v>
                </c:pt>
                <c:pt idx="4">
                  <c:v>1239</c:v>
                </c:pt>
                <c:pt idx="5">
                  <c:v>1368.5</c:v>
                </c:pt>
                <c:pt idx="6">
                  <c:v>1296</c:v>
                </c:pt>
                <c:pt idx="7">
                  <c:v>951</c:v>
                </c:pt>
                <c:pt idx="8">
                  <c:v>1079.55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8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4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BAKEHOUSE CUSTOMER ANALYTICS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Recommendations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medallion pipeline on the Databricks Lakehouse, and what it surfaced about customer value and franchise expansion.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502920" cy="54864"/>
          </a:xfrm>
          <a:prstGeom prst="rect">
            <a:avLst/>
          </a:prstGeom>
          <a:solidFill>
            <a:srgbClr val="E7E8D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medallion pipeline, built once, trusted repeatedly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Free Edition, PySpark, Delta tables at each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 of transactions, customers, and franchises. Ingestion timestamp and source lineage added, nothing else touched.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7E8D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0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validated keys and values, checked referential integrity between tables, masked card numbers.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03920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3920" y="36576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business outputs: customer segments and franchise performance, ready for direct query.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checked out clean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below was run against all 3,333 transactions before anything moved to gold.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check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2386584"/>
            <a:ext cx="201168" cy="20116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3317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 IDs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2953512"/>
            <a:ext cx="201168" cy="20116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89864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customer or franchise keys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3520440"/>
            <a:ext cx="201168" cy="20116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46557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Non-positive quantity or unit price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0" y="4087368"/>
            <a:ext cx="201168" cy="20116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403250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references to customers or franchises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0" y="4654296"/>
            <a:ext cx="201168" cy="20116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59943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totalPrice inconsistent with quantity × unitPrice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53035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card numbers were masked to the last 4 digits on the way into silver regardless — a governance step, not a defect fix.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 and At-Risk hold the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scored on Recency, Frequency, and Monetary value; grouped into four segments.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148840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1488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7E8D1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2532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customers, largest revenue share — the clearest retention priority.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23760" y="338328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7E8D1"/>
          </a:solidFill>
          <a:ln/>
        </p:spPr>
      </p:sp>
      <p:sp>
        <p:nvSpPr>
          <p:cNvPr id="10" name="Text 7"/>
          <p:cNvSpPr/>
          <p:nvPr/>
        </p:nvSpPr>
        <p:spPr>
          <a:xfrm>
            <a:off x="740664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06640" y="37673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high spenders who have gone quiet. Closest thing to “slipping away” in this data.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23760" y="461772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7E8D1"/>
          </a:solidFill>
          <a:ln/>
        </p:spPr>
      </p:sp>
      <p:sp>
        <p:nvSpPr>
          <p:cNvPr id="13" name="Text 10"/>
          <p:cNvSpPr/>
          <p:nvPr/>
        </p:nvSpPr>
        <p:spPr>
          <a:xfrm>
            <a:off x="740664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06640" y="50017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group by count, but never high spenders to begin with.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EXPANSION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37x gap between the top and bottom franchise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across the 48 franchises, ranked.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revenue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Bliss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2514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$6,642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Sinsations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30449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0449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$4,512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5753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Crumbly Nook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5753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57530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$2,790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1056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 Bliss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41056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Honolulu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41056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$2,514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636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Crumbs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46360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636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by revenue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Sapporo Sweets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Sapporo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07040" y="2514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Naha Nibbles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18320" y="30449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07040" y="30449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5753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Temptations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0" y="35753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07040" y="357530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41056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Hiroshima Delicacies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18320" y="41056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Hiroshima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07040" y="41056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4636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 Couture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18320" y="46360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Adelaide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607040" y="4636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five lowest-revenue franchises sit in Japan — the same market carrying the most total locations. Worth a closer look at whether that network is oversized relative to demand.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EXPANSION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Italy and Sweden: one franchise, outsized demand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franchise by country. Japan runs 20 locations at the lowest yield; Italy runs one at the highest.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103120"/>
          <a:ext cx="106984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worth making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9019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back At-Risk customers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30428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customers worth $17,421 who used to spend well and have gone quiet. A targeted re-engagement offer costs far less than acquiring new customers of similar value.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3192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 second location in Italy or Sweden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72160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a single franchise at the highest revenue-per-location in the network. Demand looks underserved, not saturated.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7365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the Japan network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513892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franchises at the lowest average yield, and 4 of the bottom 5 performers overall. Worth understanding whether it's oversized, underperforming, or both before expanding elsewhere.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notebooks, the Delta tables at each layer, or any of the numbers behind these findings.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2026-07-28T18:16:36Z</dcterms:created>
  <dcterms:modified xsi:type="dcterms:W3CDTF">2026-07-28T18:16:36Z</dcterms:modified>
</cp:coreProperties>
</file>